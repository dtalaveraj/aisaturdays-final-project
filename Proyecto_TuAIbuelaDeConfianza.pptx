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5303520"/>
            <a:ext cx="3502152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INTELIGENCIA ARTIFICIAL · CONSUMO EFICIENTE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Tu AIbuela
de Confianza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 err="1">
                <a:solidFill>
                  <a:srgbClr val="14B8A6"/>
                </a:solidFill>
              </a:rPr>
              <a:t>Optimización</a:t>
            </a:r>
            <a:r>
              <a:rPr sz="2200" b="1" i="0" dirty="0">
                <a:solidFill>
                  <a:srgbClr val="14B8A6"/>
                </a:solidFill>
              </a:rPr>
              <a:t> de </a:t>
            </a:r>
            <a:r>
              <a:rPr sz="2200" b="1" i="0" dirty="0" err="1">
                <a:solidFill>
                  <a:srgbClr val="14B8A6"/>
                </a:solidFill>
              </a:rPr>
              <a:t>Consumo</a:t>
            </a:r>
            <a:r>
              <a:rPr sz="2200" b="1" i="0" dirty="0">
                <a:solidFill>
                  <a:srgbClr val="14B8A6"/>
                </a:solidFill>
              </a:rPr>
              <a:t> </a:t>
            </a:r>
            <a:r>
              <a:rPr sz="2200" b="1" i="0" dirty="0" err="1">
                <a:solidFill>
                  <a:srgbClr val="14B8A6"/>
                </a:solidFill>
              </a:rPr>
              <a:t>Inteligente</a:t>
            </a:r>
            <a:endParaRPr sz="2200" b="1" i="0" dirty="0">
              <a:solidFill>
                <a:srgbClr val="14B8A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05840" y="4709160"/>
            <a:ext cx="411480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279" y="5394960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>
                <a:solidFill>
                  <a:srgbClr val="14B8A6"/>
                </a:solidFill>
              </a:rPr>
              <a:t>Tus nietos de confianza:</a:t>
            </a:r>
          </a:p>
          <a:p>
            <a:pPr marL="285750" indent="-285750" algn="l">
              <a:buFontTx/>
              <a:buChar char="-"/>
            </a:pPr>
            <a:r>
              <a:rPr lang="es-ES" dirty="0">
                <a:solidFill>
                  <a:srgbClr val="14B8A6"/>
                </a:solidFill>
              </a:rPr>
              <a:t>Samuel </a:t>
            </a:r>
            <a:r>
              <a:rPr lang="es-ES" dirty="0" err="1">
                <a:solidFill>
                  <a:srgbClr val="14B8A6"/>
                </a:solidFill>
              </a:rPr>
              <a:t>Reskala</a:t>
            </a:r>
            <a:endParaRPr lang="es-ES" dirty="0">
              <a:solidFill>
                <a:srgbClr val="14B8A6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s-ES" dirty="0">
                <a:solidFill>
                  <a:srgbClr val="14B8A6"/>
                </a:solidFill>
              </a:rPr>
              <a:t>Pablo </a:t>
            </a:r>
            <a:r>
              <a:rPr lang="es-ES" dirty="0" err="1">
                <a:solidFill>
                  <a:srgbClr val="14B8A6"/>
                </a:solidFill>
              </a:rPr>
              <a:t>Barrocal</a:t>
            </a:r>
            <a:endParaRPr lang="es-ES" dirty="0">
              <a:solidFill>
                <a:srgbClr val="14B8A6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s-ES" dirty="0">
                <a:solidFill>
                  <a:srgbClr val="14B8A6"/>
                </a:solidFill>
              </a:rPr>
              <a:t>Daniel Talavera</a:t>
            </a:r>
            <a:endParaRPr dirty="0">
              <a:solidFill>
                <a:srgbClr val="14B8A6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CDAE54-2B0C-88A3-0AC8-3BD812B2A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380" y="1847088"/>
            <a:ext cx="5494120" cy="2999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Misión y Visión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4B8A6"/>
                </a:solidFill>
              </a:rPr>
              <a:t>El Problema:</a:t>
            </a:r>
            <a:r>
              <a:rPr sz="1700">
                <a:solidFill>
                  <a:srgbClr val="E2E8F0"/>
                </a:solidFill>
              </a:rPr>
              <a:t>  Disparidad de precios y coste de oportunidad: el consumidor pierde dinero y tiempo por falta de información.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4B8A6"/>
                </a:solidFill>
              </a:rPr>
              <a:t>Nuestra Misión:</a:t>
            </a:r>
            <a:r>
              <a:rPr sz="1700">
                <a:solidFill>
                  <a:srgbClr val="E2E8F0"/>
                </a:solidFill>
              </a:rPr>
              <a:t>  Democratizar los datos de consumo para generar ahorro real y medible para cualquier hogar.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4B8A6"/>
                </a:solidFill>
              </a:rPr>
              <a:t>El Objetivo:</a:t>
            </a:r>
            <a:r>
              <a:rPr sz="1700">
                <a:solidFill>
                  <a:srgbClr val="E2E8F0"/>
                </a:solidFill>
              </a:rPr>
              <a:t>  Maximizar el poder adquisitivo equilibrando precio, distancia y número de paradas.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4204" y="3365779"/>
            <a:ext cx="3200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84204" y="3365779"/>
            <a:ext cx="32004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8796" y="3475507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Ahorro potencial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8796" y="3804691"/>
            <a:ext cx="28712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E2E8F0"/>
                </a:solidFill>
              </a:rPr>
              <a:t>15 – 25 %
</a:t>
            </a:r>
            <a:r>
              <a:rPr sz="2000" b="0" i="0" dirty="0" err="1">
                <a:solidFill>
                  <a:srgbClr val="E2E8F0"/>
                </a:solidFill>
              </a:rPr>
              <a:t>por</a:t>
            </a:r>
            <a:r>
              <a:rPr sz="2000" b="0" i="0" dirty="0">
                <a:solidFill>
                  <a:srgbClr val="E2E8F0"/>
                </a:solidFill>
              </a:rPr>
              <a:t> </a:t>
            </a:r>
            <a:r>
              <a:rPr sz="2000" b="0" i="0" dirty="0" err="1">
                <a:solidFill>
                  <a:srgbClr val="E2E8F0"/>
                </a:solidFill>
              </a:rPr>
              <a:t>hogar</a:t>
            </a:r>
            <a:r>
              <a:rPr sz="2000" b="0" i="0" dirty="0">
                <a:solidFill>
                  <a:srgbClr val="E2E8F0"/>
                </a:solidFill>
              </a:rPr>
              <a:t> / </a:t>
            </a:r>
            <a:r>
              <a:rPr sz="2000" b="0" i="0" dirty="0" err="1">
                <a:solidFill>
                  <a:srgbClr val="E2E8F0"/>
                </a:solidFill>
              </a:rPr>
              <a:t>mes</a:t>
            </a:r>
            <a:endParaRPr sz="2000" b="0" i="0" dirty="0">
              <a:solidFill>
                <a:srgbClr val="E2E8F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84204" y="4920259"/>
            <a:ext cx="3200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84204" y="4920259"/>
            <a:ext cx="32004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8796" y="5029987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Nombre del proyecto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8796" y="5359171"/>
            <a:ext cx="28712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E2E8F0"/>
                </a:solidFill>
              </a:rPr>
              <a:t>Tu </a:t>
            </a:r>
            <a:r>
              <a:rPr sz="1800" b="0" i="0" dirty="0" err="1">
                <a:solidFill>
                  <a:srgbClr val="E2E8F0"/>
                </a:solidFill>
              </a:rPr>
              <a:t>AIbuela</a:t>
            </a:r>
            <a:r>
              <a:rPr sz="1800" b="0" i="0" dirty="0">
                <a:solidFill>
                  <a:srgbClr val="E2E8F0"/>
                </a:solidFill>
              </a:rPr>
              <a:t>
de </a:t>
            </a:r>
            <a:r>
              <a:rPr sz="1800" b="0" i="0" dirty="0" err="1">
                <a:solidFill>
                  <a:srgbClr val="E2E8F0"/>
                </a:solidFill>
              </a:rPr>
              <a:t>Confianza</a:t>
            </a:r>
            <a:endParaRPr sz="1800" b="0" i="0" dirty="0">
              <a:solidFill>
                <a:srgbClr val="E2E8F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B60FBD7-669C-C0DC-BAB3-DB639456B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569" y="1216152"/>
            <a:ext cx="2668966" cy="59413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Ecosistema Tecnológico (Open Source)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26517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26517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35608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Ingesta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64792"/>
            <a:ext cx="23225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E2E8F0"/>
                </a:solidFill>
              </a:rPr>
              <a:t>Python + Playwright
para </a:t>
            </a:r>
            <a:r>
              <a:rPr b="0" i="0" dirty="0" err="1">
                <a:solidFill>
                  <a:srgbClr val="E2E8F0"/>
                </a:solidFill>
              </a:rPr>
              <a:t>catálogos</a:t>
            </a:r>
            <a:r>
              <a:rPr b="0" i="0" dirty="0">
                <a:solidFill>
                  <a:srgbClr val="E2E8F0"/>
                </a:solidFill>
              </a:rPr>
              <a:t> </a:t>
            </a:r>
            <a:r>
              <a:rPr b="0" i="0" dirty="0" err="1">
                <a:solidFill>
                  <a:srgbClr val="E2E8F0"/>
                </a:solidFill>
              </a:rPr>
              <a:t>digitales</a:t>
            </a:r>
            <a:endParaRPr b="0" i="0" dirty="0">
              <a:solidFill>
                <a:srgbClr val="E2E8F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02152" y="1325880"/>
            <a:ext cx="26517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02152" y="1325880"/>
            <a:ext cx="26517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435608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IA · NLP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764792"/>
            <a:ext cx="23225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>
                <a:solidFill>
                  <a:srgbClr val="E2E8F0"/>
                </a:solidFill>
              </a:rPr>
              <a:t>Ol</a:t>
            </a:r>
            <a:r>
              <a:rPr dirty="0">
                <a:solidFill>
                  <a:srgbClr val="E2E8F0"/>
                </a:solidFill>
              </a:rPr>
              <a:t>lama 3 para </a:t>
            </a:r>
            <a:r>
              <a:rPr dirty="0" err="1">
                <a:solidFill>
                  <a:srgbClr val="E2E8F0"/>
                </a:solidFill>
              </a:rPr>
              <a:t>normalizar</a:t>
            </a:r>
            <a:r>
              <a:rPr dirty="0">
                <a:solidFill>
                  <a:srgbClr val="E2E8F0"/>
                </a:solidFill>
              </a:rPr>
              <a:t>
</a:t>
            </a:r>
            <a:r>
              <a:rPr dirty="0" err="1">
                <a:solidFill>
                  <a:srgbClr val="E2E8F0"/>
                </a:solidFill>
              </a:rPr>
              <a:t>listas</a:t>
            </a:r>
            <a:r>
              <a:rPr dirty="0">
                <a:solidFill>
                  <a:srgbClr val="E2E8F0"/>
                </a:solidFill>
              </a:rPr>
              <a:t> del </a:t>
            </a:r>
            <a:r>
              <a:rPr dirty="0" err="1">
                <a:solidFill>
                  <a:srgbClr val="E2E8F0"/>
                </a:solidFill>
              </a:rPr>
              <a:t>usuario</a:t>
            </a:r>
            <a:endParaRPr dirty="0">
              <a:solidFill>
                <a:srgbClr val="E2E8F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9944" y="1325880"/>
            <a:ext cx="26517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9944" y="1325880"/>
            <a:ext cx="26517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74536" y="1435608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Geo &amp;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1764792"/>
            <a:ext cx="23225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E2E8F0"/>
                </a:solidFill>
              </a:rPr>
              <a:t>OpenStreetMap · OSRM
</a:t>
            </a:r>
            <a:r>
              <a:rPr dirty="0" err="1">
                <a:solidFill>
                  <a:srgbClr val="E2E8F0"/>
                </a:solidFill>
              </a:rPr>
              <a:t>rutas</a:t>
            </a:r>
            <a:r>
              <a:rPr dirty="0">
                <a:solidFill>
                  <a:srgbClr val="E2E8F0"/>
                </a:solidFill>
              </a:rPr>
              <a:t> de </a:t>
            </a:r>
            <a:r>
              <a:rPr dirty="0" err="1">
                <a:solidFill>
                  <a:srgbClr val="E2E8F0"/>
                </a:solidFill>
              </a:rPr>
              <a:t>precisión</a:t>
            </a:r>
            <a:endParaRPr dirty="0">
              <a:solidFill>
                <a:srgbClr val="E2E8F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317736" y="1325880"/>
            <a:ext cx="26517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17736" y="1325880"/>
            <a:ext cx="26517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2328" y="1435608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Cloud &amp;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1764792"/>
            <a:ext cx="23225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 err="1">
                <a:solidFill>
                  <a:srgbClr val="E2E8F0"/>
                </a:solidFill>
              </a:rPr>
              <a:t>Supabase</a:t>
            </a:r>
            <a:r>
              <a:rPr dirty="0">
                <a:solidFill>
                  <a:srgbClr val="E2E8F0"/>
                </a:solidFill>
              </a:rPr>
              <a:t> + Render
</a:t>
            </a:r>
            <a:r>
              <a:rPr dirty="0" err="1">
                <a:solidFill>
                  <a:srgbClr val="E2E8F0"/>
                </a:solidFill>
              </a:rPr>
              <a:t>infraestructura</a:t>
            </a:r>
            <a:r>
              <a:rPr dirty="0">
                <a:solidFill>
                  <a:srgbClr val="E2E8F0"/>
                </a:solidFill>
              </a:rPr>
              <a:t> </a:t>
            </a:r>
            <a:r>
              <a:rPr dirty="0" err="1">
                <a:solidFill>
                  <a:srgbClr val="E2E8F0"/>
                </a:solidFill>
              </a:rPr>
              <a:t>escalable</a:t>
            </a:r>
            <a:endParaRPr dirty="0">
              <a:solidFill>
                <a:srgbClr val="E2E8F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11018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100 % Open Source  ·  sin dependencias propietarias  ·  coste operativo mínimo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Motor de Optimización Multiobjetivo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2286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98448"/>
            <a:ext cx="73152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081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01  Coste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389888"/>
            <a:ext cx="8549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Selección del mínimo precio unitario por SKU en el catálogo combinado.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86000"/>
            <a:ext cx="1101852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505456"/>
            <a:ext cx="2286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505456"/>
            <a:ext cx="73152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615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02  Desplazamiento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96896"/>
            <a:ext cx="8549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Minimización de distancia total y huella de carbono asociada al trayecto.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93008"/>
            <a:ext cx="1101852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3712464"/>
            <a:ext cx="2286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712464"/>
            <a:ext cx="73152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8221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03  K-Stops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803904"/>
            <a:ext cx="8549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Restricción inteligente del nº de establecimientos para rentabilizar la ruta.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700016"/>
            <a:ext cx="1101852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4919472"/>
            <a:ext cx="2286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4919472"/>
            <a:ext cx="73152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</a:rPr>
              <a:t>Regla de Oro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010912"/>
            <a:ext cx="8549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El ahorro en precio debe superar siempre el coste del trayecto.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Impacto y Roadmap de Implementación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256032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</a:rPr>
              <a:t>Semanas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MVP de extracción
de datos locales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B8A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325880"/>
            <a:ext cx="256032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32588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435608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4B8A6"/>
                </a:solidFill>
              </a:rPr>
              <a:t>Semana 3</a:t>
            </a:r>
            <a:r>
              <a:rPr lang="es-ES" sz="1200" b="1" i="0" dirty="0">
                <a:solidFill>
                  <a:srgbClr val="14B8A6"/>
                </a:solidFill>
              </a:rPr>
              <a:t>-4</a:t>
            </a:r>
            <a:endParaRPr sz="1200" b="1" i="0" dirty="0">
              <a:solidFill>
                <a:srgbClr val="14B8A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66160" y="187451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Integración de IA
para listas inteligentes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B8A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325880"/>
            <a:ext cx="256032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32588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435608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4B8A6"/>
                </a:solidFill>
              </a:rPr>
              <a:t>Semana </a:t>
            </a:r>
            <a:r>
              <a:rPr lang="es-ES" sz="1200" b="1" i="0" dirty="0">
                <a:solidFill>
                  <a:srgbClr val="14B8A6"/>
                </a:solidFill>
              </a:rPr>
              <a:t>5</a:t>
            </a:r>
            <a:endParaRPr sz="1200" b="1" i="0" dirty="0">
              <a:solidFill>
                <a:srgbClr val="14B8A6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1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Motor de rutas
visuales en vivo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B8A6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325880"/>
            <a:ext cx="256032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1325880"/>
            <a:ext cx="2560320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1435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CC15"/>
                </a:solidFill>
              </a:rPr>
              <a:t>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87451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15–25 % de ahorro
mensual garantizado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51960"/>
            <a:ext cx="11018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El roadmap está diseñado para validar hipótesis rápido (2 semanas) y escalar progresivamente. Cada fase entrega valor independiente, minimizando el riesgo de inversión y permitiendo pivotar con datos reales.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302</Words>
  <Application>Microsoft Office PowerPoint</Application>
  <PresentationFormat>Custom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Talavera Jimenez</cp:lastModifiedBy>
  <cp:revision>7</cp:revision>
  <dcterms:created xsi:type="dcterms:W3CDTF">2013-01-27T09:14:16Z</dcterms:created>
  <dcterms:modified xsi:type="dcterms:W3CDTF">2026-03-21T11:50:35Z</dcterms:modified>
  <cp:category/>
</cp:coreProperties>
</file>